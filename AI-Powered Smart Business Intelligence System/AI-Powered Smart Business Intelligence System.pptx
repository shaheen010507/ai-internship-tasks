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88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Project overview: 500 customer records, full ML pipeline from preprocessing to Generative AI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ensures clean, normalized data. Missing values handled with domain-aware imputation. 12 features after encoding.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 uses Random Forest (100 trees). Clustering: Elbow method confirmed k=4. Segment 3 has highest churn (42%) — priority for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 achieves 78% accuracy, outperforming Random Forest (68%). EarlyStopping prevents overfitting. BatchNormalization accelerates 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engineered prompts for Generative AI tasks. Four business insights directly derived from model outputs targeting highest-impact interventions.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457200"/>
            <a:ext cx="457200" cy="4572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1280160"/>
            <a:ext cx="457200" cy="4572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2103120"/>
            <a:ext cx="457200" cy="4572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2926080"/>
            <a:ext cx="457200" cy="4572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" y="3749040"/>
            <a:ext cx="457200" cy="4572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37160" y="47548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9" name="Text 2"/>
          <p:cNvSpPr/>
          <p:nvPr/>
        </p:nvSpPr>
        <p:spPr>
          <a:xfrm>
            <a:off x="137160" y="129844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10" name="Text 3"/>
          <p:cNvSpPr/>
          <p:nvPr/>
        </p:nvSpPr>
        <p:spPr>
          <a:xfrm>
            <a:off x="137160" y="212140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Clustering</a:t>
            </a:r>
            <a:endParaRPr lang="en-US" sz="1100" dirty="0"/>
          </a:p>
        </p:txBody>
      </p:sp>
      <p:sp>
        <p:nvSpPr>
          <p:cNvPr id="11" name="Text 4"/>
          <p:cNvSpPr/>
          <p:nvPr/>
        </p:nvSpPr>
        <p:spPr>
          <a:xfrm>
            <a:off x="137160" y="294436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12" name="Text 5"/>
          <p:cNvSpPr/>
          <p:nvPr/>
        </p:nvSpPr>
        <p:spPr>
          <a:xfrm>
            <a:off x="137160" y="376732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Generative AI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3749040" y="7315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AI-Powered Smart</a:t>
            </a:r>
            <a:endParaRPr lang="en-US" sz="3200" dirty="0"/>
          </a:p>
        </p:txBody>
      </p:sp>
      <p:sp>
        <p:nvSpPr>
          <p:cNvPr id="14" name="Text 7"/>
          <p:cNvSpPr/>
          <p:nvPr/>
        </p:nvSpPr>
        <p:spPr>
          <a:xfrm>
            <a:off x="3749040" y="13716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Business Intelligence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3749040" y="20116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A33E"/>
                </a:solidFill>
              </a:rPr>
              <a:t>System</a:t>
            </a:r>
            <a:endParaRPr lang="en-US" sz="3200" dirty="0"/>
          </a:p>
        </p:txBody>
      </p:sp>
      <p:sp>
        <p:nvSpPr>
          <p:cNvPr id="16" name="Shape 9"/>
          <p:cNvSpPr/>
          <p:nvPr/>
        </p:nvSpPr>
        <p:spPr>
          <a:xfrm>
            <a:off x="3749040" y="2834640"/>
            <a:ext cx="5029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374904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SHAHEEN M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3749040" y="3429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Customer Churn Prediction  |  500 Customers  |  2026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3749040" y="397764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A3A50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3749040" y="4041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A33E"/>
                </a:solidFill>
              </a:rPr>
              <a:t>28.2%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3749040" y="4370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Churn Rate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5074920" y="397764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A3A50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5074920" y="4041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A33E"/>
                </a:solidFill>
              </a:rPr>
              <a:t>68%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5074920" y="4370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RF Accuracy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400800" y="397764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A3A50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6400800" y="4041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A33E"/>
                </a:solidFill>
              </a:rPr>
              <a:t>78%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6400800" y="4370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ANN Accuracy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7726680" y="397764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A3A50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726680" y="4041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A33E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7726680" y="4370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Segments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PREPROCESSING &amp; EXPLORATORY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8952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0E8F0"/>
                </a:solidFill>
              </a:rPr>
              <a:t>Age (18), TotalCharges (25), SatisfactionScore (15), NumComplaints (10) filled with median/mode strategies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841248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Encoding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78308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0E8F0"/>
                </a:solidFill>
              </a:rPr>
              <a:t>Label Encoding applied to Gender, ContractType (3 types), and PaymentMethod (4 types) for ML compatibility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841248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18304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178308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0E8F0"/>
                </a:solidFill>
              </a:rPr>
              <a:t>StandardScaler applied to all 12 features. Normalizes distributions for distance-based algorithms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841248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021B3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94576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Train/Test Split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2864" y="178308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0E8F0"/>
                </a:solidFill>
              </a:rPr>
              <a:t>80/20 stratified split: 400 training samples, 100 test samples. Stratified to preserve 28% churn ratio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F0F9F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041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500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4370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4041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14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86000" y="4370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Features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77640" y="4041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28.2%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77640" y="4370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Churn 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4041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12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69280" y="4370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After Encoding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60920" y="4041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72/28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60920" y="4370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Train/Test 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CLASSIFICATION &amp; CUSTOMER CLUSTERING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SECTIONS 2 &amp;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</a:rPr>
              <a:t>Random Forest Classifier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4206240" cy="2103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3383280"/>
            <a:ext cx="1280160" cy="658368"/>
          </a:xfrm>
          <a:prstGeom prst="roundRect">
            <a:avLst>
              <a:gd name="adj" fmla="val 9722"/>
            </a:avLst>
          </a:prstGeom>
          <a:solidFill>
            <a:srgbClr val="F0F9FB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3429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</a:rPr>
              <a:t>68%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28600" y="37216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Accuracy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0" y="3383280"/>
            <a:ext cx="1280160" cy="658368"/>
          </a:xfrm>
          <a:prstGeom prst="roundRect">
            <a:avLst>
              <a:gd name="adj" fmla="val 9722"/>
            </a:avLst>
          </a:prstGeom>
          <a:solidFill>
            <a:srgbClr val="F0F9FB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645920" y="3429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</a:rPr>
              <a:t>0.76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645920" y="37216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Precision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063240" y="3383280"/>
            <a:ext cx="1280160" cy="658368"/>
          </a:xfrm>
          <a:prstGeom prst="roundRect">
            <a:avLst>
              <a:gd name="adj" fmla="val 9722"/>
            </a:avLst>
          </a:prstGeom>
          <a:solidFill>
            <a:srgbClr val="F0F9FB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063240" y="3429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</a:rPr>
              <a:t>0.81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063240" y="37216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Recall (No Churn)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0" y="777240"/>
            <a:ext cx="0" cy="41148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</a:rPr>
              <a:t>K-Means Segmentation (k=4)</a:t>
            </a:r>
            <a:endParaRPr lang="en-US" sz="14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206240" cy="20116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709160" y="333756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F0F9FB"/>
          </a:solidFill>
          <a:ln/>
        </p:spPr>
      </p:sp>
      <p:sp>
        <p:nvSpPr>
          <p:cNvPr id="21" name="Shape 17"/>
          <p:cNvSpPr/>
          <p:nvPr/>
        </p:nvSpPr>
        <p:spPr>
          <a:xfrm>
            <a:off x="4800600" y="3401568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8"/>
          <p:cNvSpPr/>
          <p:nvPr/>
        </p:nvSpPr>
        <p:spPr>
          <a:xfrm>
            <a:off x="5074920" y="3374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Seg 1: Loyal High-Value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818120" y="33741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8090"/>
                </a:solidFill>
              </a:rPr>
              <a:t>Churn: 15%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709160" y="3758184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F0F9FB"/>
          </a:solidFill>
          <a:ln/>
        </p:spPr>
      </p:sp>
      <p:sp>
        <p:nvSpPr>
          <p:cNvPr id="25" name="Shape 21"/>
          <p:cNvSpPr/>
          <p:nvPr/>
        </p:nvSpPr>
        <p:spPr>
          <a:xfrm>
            <a:off x="4800600" y="382219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2"/>
          <p:cNvSpPr/>
          <p:nvPr/>
        </p:nvSpPr>
        <p:spPr>
          <a:xfrm>
            <a:off x="507492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Seg 2: At-Risk Veterans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818120" y="3794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8090"/>
                </a:solidFill>
              </a:rPr>
              <a:t>Churn: 30%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709160" y="4178808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F0F9FB"/>
          </a:solidFill>
          <a:ln/>
        </p:spPr>
      </p:sp>
      <p:sp>
        <p:nvSpPr>
          <p:cNvPr id="29" name="Shape 25"/>
          <p:cNvSpPr/>
          <p:nvPr/>
        </p:nvSpPr>
        <p:spPr>
          <a:xfrm>
            <a:off x="4800600" y="4242816"/>
            <a:ext cx="219456" cy="21945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6"/>
          <p:cNvSpPr/>
          <p:nvPr/>
        </p:nvSpPr>
        <p:spPr>
          <a:xfrm>
            <a:off x="5074920" y="4215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Seg 3: Low Satisfaction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818120" y="4215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6167"/>
                </a:solidFill>
              </a:rPr>
              <a:t>Churn: 42%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709160" y="4599432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F0F9FB"/>
          </a:solidFill>
          <a:ln/>
        </p:spPr>
      </p:sp>
      <p:sp>
        <p:nvSpPr>
          <p:cNvPr id="33" name="Shape 29"/>
          <p:cNvSpPr/>
          <p:nvPr/>
        </p:nvSpPr>
        <p:spPr>
          <a:xfrm>
            <a:off x="4800600" y="4663440"/>
            <a:ext cx="219456" cy="219456"/>
          </a:xfrm>
          <a:prstGeom prst="ellipse">
            <a:avLst/>
          </a:prstGeom>
          <a:solidFill>
            <a:srgbClr val="E7A33E"/>
          </a:solidFill>
          <a:ln/>
        </p:spPr>
      </p:sp>
      <p:sp>
        <p:nvSpPr>
          <p:cNvPr id="34" name="Text 30"/>
          <p:cNvSpPr/>
          <p:nvPr/>
        </p:nvSpPr>
        <p:spPr>
          <a:xfrm>
            <a:off x="5074920" y="4636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Seg 4: Multi-Product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818120" y="46360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8090"/>
                </a:solidFill>
              </a:rPr>
              <a:t>Churn: 27%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DEEP LEARNING – ARTIFICIAL NEURAL NETWORK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89520" y="20116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4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66928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777240"/>
            <a:ext cx="2880360" cy="2743200"/>
          </a:xfrm>
          <a:prstGeom prst="roundRect">
            <a:avLst>
              <a:gd name="adj" fmla="val 3333"/>
            </a:avLst>
          </a:prstGeom>
          <a:solidFill>
            <a:srgbClr val="F0F9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8686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ANN Architecture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298448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6181344" y="130759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Input Layer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81344" y="1463040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0"/>
                </a:solidFill>
              </a:rPr>
              <a:t>12 features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132320" y="160934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72200" y="1700784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6181344" y="170992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Dense(64) + BN + Drop(0.3)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81344" y="1865376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0"/>
                </a:solidFill>
              </a:rPr>
              <a:t>Hidden Layer 1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132320" y="201168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72200" y="2103120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81344" y="211226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Dense(32) + Drop(0.2)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81344" y="2267712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0"/>
                </a:solidFill>
              </a:rPr>
              <a:t>Hidden Layer 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7132320" y="241401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2505456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021B3A"/>
          </a:solidFill>
          <a:ln/>
        </p:spPr>
      </p:sp>
      <p:sp>
        <p:nvSpPr>
          <p:cNvPr id="22" name="Text 19"/>
          <p:cNvSpPr/>
          <p:nvPr/>
        </p:nvSpPr>
        <p:spPr>
          <a:xfrm>
            <a:off x="6181344" y="251460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Dense(16) → ReLU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181344" y="267004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0"/>
                </a:solidFill>
              </a:rPr>
              <a:t>Hidden Layer 3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132320" y="281635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172200" y="2907792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96167"/>
          </a:solidFill>
          <a:ln/>
        </p:spPr>
      </p:sp>
      <p:sp>
        <p:nvSpPr>
          <p:cNvPr id="26" name="Text 23"/>
          <p:cNvSpPr/>
          <p:nvPr/>
        </p:nvSpPr>
        <p:spPr>
          <a:xfrm>
            <a:off x="6181344" y="29169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Dense(1) → Sigmoid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181344" y="3072384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F0"/>
                </a:solidFill>
              </a:rPr>
              <a:t>Output (Churn Prob)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28600" y="36576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D2137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28600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A33E"/>
                </a:solidFill>
              </a:rPr>
              <a:t>78%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228600" y="42245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ANN Accuracy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984248" y="36576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D2137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984248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A33E"/>
                </a:solidFill>
              </a:rPr>
              <a:t>Binary CE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984248" y="42245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Loss Function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739896" y="36576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D2137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3739896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A33E"/>
                </a:solidFill>
              </a:rPr>
              <a:t>Adam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3739896" y="42245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Optimizer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95544" y="36576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D2137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495544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A33E"/>
                </a:solidFill>
              </a:rPr>
              <a:t>EarlyStopping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495544" y="42245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Regularization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251192" y="365760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0D2137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7251192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A33E"/>
                </a:solidFill>
              </a:rPr>
              <a:t>BatchNorm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251192" y="42245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Stabilizer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GENERATIVE AI PROMPTS &amp; BUSINESS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896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 1: Churn Strategy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2618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0EFF5"/>
                </a:solidFill>
              </a:rPr>
              <a:t>Senior analyst persona. Given 28% churn rate and 68% RF accuracy, generate 5 specific retention strategies with ROI estimates.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2880" y="2157984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6771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2494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 2: Segment Targeting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0040" y="261518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0EFF5"/>
                </a:solidFill>
              </a:rPr>
              <a:t>Describe 4 K-Means segments with churn rates. Design personalized multi-channel campaigns for each with conversion improvement estimates.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182880" y="3511296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62102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3602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 3: Model Improvement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20040" y="396849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0EFF5"/>
                </a:solidFill>
              </a:rPr>
              <a:t>ANN baseline at 78% accuracy with 28/72 class imbalance. Suggest 5 techniques to reach 85%+ accuracy with &gt;70% recall on churners.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343400" y="804672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914400"/>
            <a:ext cx="384048" cy="38404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443984" y="8961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96167">
              <a:alpha val="2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4919472" y="8686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Priority: Low-Satisfaction Segment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919472" y="115214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42% churn rate demands immediate outreach. Offer service upgrade within 7 days of any complaint.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343400" y="1828800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272" y="1938528"/>
            <a:ext cx="384048" cy="38404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443984" y="192024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C5F2D">
              <a:alpha val="2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4919472" y="18928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Contract Migration Campaign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919472" y="217627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Month-to-Month customers have 2× churn risk. 15% discount for 1-year, 25% for 2-year contracts.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343400" y="2852928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272" y="2962656"/>
            <a:ext cx="384048" cy="38404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443984" y="29443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7A33E">
              <a:alpha val="2000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4919472" y="291693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ANN Early-Warning Deployment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4919472" y="320040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Flag customers with &gt;60% churn probability 30 days early. Enables proactive retention calls.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343400" y="3877056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2272" y="3986784"/>
            <a:ext cx="384048" cy="384048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4443984" y="39684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4" name="Text 25"/>
          <p:cNvSpPr/>
          <p:nvPr/>
        </p:nvSpPr>
        <p:spPr>
          <a:xfrm>
            <a:off x="4919472" y="39410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Complaint SLA Policy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4919472" y="422452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3+ complaints correlates with 40% higher churn. Implement 24hr resolution SLA with auto-escalation.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On-screen Show (16:9)</PresentationFormat>
  <Paragraphs>112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Business Intelligence System</dc:title>
  <dc:subject>PptxGenJS Presentation</dc:subject>
  <dc:creator>RUDHRESH S</dc:creator>
  <cp:lastModifiedBy>DELL</cp:lastModifiedBy>
  <cp:revision>2</cp:revision>
  <dcterms:created xsi:type="dcterms:W3CDTF">2026-06-09T06:08:57Z</dcterms:created>
  <dcterms:modified xsi:type="dcterms:W3CDTF">2026-06-09T06:34:34Z</dcterms:modified>
</cp:coreProperties>
</file>